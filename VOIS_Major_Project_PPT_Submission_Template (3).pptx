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0"/>
  </p:notesMasterIdLst>
  <p:handoutMasterIdLst>
    <p:handoutMasterId r:id="rId21"/>
  </p:handoutMasterIdLst>
  <p:sldIdLst>
    <p:sldId id="338" r:id="rId5"/>
    <p:sldId id="327" r:id="rId6"/>
    <p:sldId id="315" r:id="rId7"/>
    <p:sldId id="347" r:id="rId8"/>
    <p:sldId id="329" r:id="rId9"/>
    <p:sldId id="302" r:id="rId10"/>
    <p:sldId id="339" r:id="rId11"/>
    <p:sldId id="340" r:id="rId12"/>
    <p:sldId id="344" r:id="rId13"/>
    <p:sldId id="345" r:id="rId14"/>
    <p:sldId id="346" r:id="rId15"/>
    <p:sldId id="341" r:id="rId16"/>
    <p:sldId id="342" r:id="rId17"/>
    <p:sldId id="343" r:id="rId18"/>
    <p:sldId id="304"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89" d="100"/>
          <a:sy n="89" d="100"/>
        </p:scale>
        <p:origin x="370"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9/10/2026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9/10/2026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6</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9/10/2026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9/10/2026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135228" y="3583914"/>
            <a:ext cx="4569205" cy="861497"/>
          </a:xfrm>
        </p:spPr>
        <p:txBody>
          <a:bodyPr vert="horz" lIns="91440" tIns="45720" rIns="91440" bIns="45720" rtlCol="0" anchor="t">
            <a:normAutofit fontScale="92500"/>
          </a:bodyPr>
          <a:lstStyle/>
          <a:p>
            <a:pPr algn="r"/>
            <a:r>
              <a:rPr lang="en-US" b="0" dirty="0">
                <a:solidFill>
                  <a:schemeClr val="tx1"/>
                </a:solidFill>
              </a:rPr>
              <a:t>Student Name :-Saddala Avinish Reddy</a:t>
            </a:r>
          </a:p>
          <a:p>
            <a:pPr algn="r"/>
            <a:r>
              <a:rPr lang="en-US" b="0" dirty="0">
                <a:solidFill>
                  <a:schemeClr val="tx1"/>
                </a:solidFill>
              </a:rPr>
              <a:t>College Name:-Manipal university Jaipur </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3" y="2844750"/>
            <a:ext cx="9863116" cy="584250"/>
          </a:xfrm>
        </p:spPr>
        <p:txBody>
          <a:bodyPr>
            <a:normAutofit fontScale="90000"/>
          </a:bodyPr>
          <a:lstStyle/>
          <a:p>
            <a:r>
              <a:rPr lang="en-GB" sz="3200" dirty="0"/>
              <a:t>Project Title -</a:t>
            </a:r>
            <a:r>
              <a:rPr lang="en-IN" sz="3200" dirty="0"/>
              <a:t>Seasonal Agriculture Performance Analysis</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957406" y="4576469"/>
            <a:ext cx="4106300" cy="646331"/>
          </a:xfrm>
          <a:prstGeom prst="rect">
            <a:avLst/>
          </a:prstGeom>
          <a:noFill/>
        </p:spPr>
        <p:txBody>
          <a:bodyPr wrap="square" rtlCol="0">
            <a:spAutoFit/>
          </a:bodyPr>
          <a:lstStyle/>
          <a:p>
            <a:r>
              <a:rPr lang="en-US" b="1" dirty="0"/>
              <a:t>AICTE STU ID : (</a:t>
            </a:r>
            <a:r>
              <a:rPr lang="en-IN" b="1" dirty="0"/>
              <a:t>STU6a27c55ff174b1780991327</a:t>
            </a:r>
            <a:r>
              <a:rPr lang="en-US" b="1" dirty="0"/>
              <a:t>)</a:t>
            </a:r>
          </a:p>
        </p:txBody>
      </p:sp>
      <p:sp>
        <p:nvSpPr>
          <p:cNvPr id="5" name="TextBox 4">
            <a:extLst>
              <a:ext uri="{FF2B5EF4-FFF2-40B4-BE49-F238E27FC236}">
                <a16:creationId xmlns:a16="http://schemas.microsoft.com/office/drawing/2014/main" id="{2F11EDF5-CD0A-3C08-D229-2525D3C690F0}"/>
              </a:ext>
            </a:extLst>
          </p:cNvPr>
          <p:cNvSpPr txBox="1"/>
          <p:nvPr/>
        </p:nvSpPr>
        <p:spPr>
          <a:xfrm>
            <a:off x="3485072" y="3088257"/>
            <a:ext cx="184731" cy="369332"/>
          </a:xfrm>
          <a:prstGeom prst="rect">
            <a:avLst/>
          </a:prstGeom>
          <a:noFill/>
        </p:spPr>
        <p:txBody>
          <a:bodyPr wrap="none" rtlCol="0">
            <a:spAutoFit/>
          </a:bodyPr>
          <a:lstStyle/>
          <a:p>
            <a:endParaRPr lang="en-IN"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70000" lnSpcReduction="20000"/>
          </a:bodyPr>
          <a:lstStyle/>
          <a:p>
            <a:pPr>
              <a:lnSpc>
                <a:spcPct val="100000"/>
              </a:lnSpc>
            </a:pPr>
            <a:r>
              <a:rPr lang="en-IN" sz="2800" dirty="0"/>
              <a:t>(</a:t>
            </a: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br>
              <a:rPr lang="en-GB" dirty="0"/>
            </a:br>
            <a:r>
              <a:rPr lang="en-IN" sz="2700" dirty="0"/>
              <a:t>This project focuses on </a:t>
            </a:r>
            <a:r>
              <a:rPr lang="en-IN" sz="2700" dirty="0" err="1"/>
              <a:t>analyzing</a:t>
            </a:r>
            <a:r>
              <a:rPr lang="en-IN" sz="2700" dirty="0"/>
              <a:t> agricultural data to understand how farming performance changes across different seasons, regions, environmental conditions, resource usage, and economic factors. The dataset contains information related to agricultural activities, crop production, farming practices, environmental conditions, and financial performance.</a:t>
            </a:r>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A8053F-46F4-225F-8F24-495484987E41}"/>
              </a:ext>
            </a:extLst>
          </p:cNvPr>
          <p:cNvSpPr>
            <a:spLocks noGrp="1"/>
          </p:cNvSpPr>
          <p:nvPr>
            <p:ph type="title"/>
          </p:nvPr>
        </p:nvSpPr>
        <p:spPr/>
        <p:txBody>
          <a:bodyPr>
            <a:normAutofit/>
          </a:bodyPr>
          <a:lstStyle/>
          <a:p>
            <a:r>
              <a:rPr lang="en-GB" sz="4400" dirty="0">
                <a:solidFill>
                  <a:schemeClr val="tx1"/>
                </a:solidFill>
              </a:rPr>
              <a:t>Project Description</a:t>
            </a:r>
            <a:endParaRPr lang="en-IN" sz="4400" dirty="0">
              <a:solidFill>
                <a:schemeClr val="tx1"/>
              </a:solidFill>
            </a:endParaRPr>
          </a:p>
        </p:txBody>
      </p:sp>
      <p:sp>
        <p:nvSpPr>
          <p:cNvPr id="3" name="Slide Number Placeholder 2">
            <a:extLst>
              <a:ext uri="{FF2B5EF4-FFF2-40B4-BE49-F238E27FC236}">
                <a16:creationId xmlns:a16="http://schemas.microsoft.com/office/drawing/2014/main" id="{FDCACCDA-E5B2-704F-7A0D-F5F8D0CE5FD9}"/>
              </a:ext>
            </a:extLst>
          </p:cNvPr>
          <p:cNvSpPr>
            <a:spLocks noGrp="1"/>
          </p:cNvSpPr>
          <p:nvPr>
            <p:ph type="sldNum" sz="quarter" idx="12"/>
          </p:nvPr>
        </p:nvSpPr>
        <p:spPr/>
        <p:txBody>
          <a:bodyPr/>
          <a:lstStyle/>
          <a:p>
            <a:fld id="{D57F1E4F-1CFF-5643-939E-217C01CDF565}" type="slidenum">
              <a:rPr lang="en-US" smtClean="0"/>
              <a:pPr/>
              <a:t>4</a:t>
            </a:fld>
            <a:endParaRPr lang="en-US" dirty="0"/>
          </a:p>
        </p:txBody>
      </p:sp>
      <p:sp>
        <p:nvSpPr>
          <p:cNvPr id="4" name="TextBox 3">
            <a:extLst>
              <a:ext uri="{FF2B5EF4-FFF2-40B4-BE49-F238E27FC236}">
                <a16:creationId xmlns:a16="http://schemas.microsoft.com/office/drawing/2014/main" id="{4232CD06-B8E7-8E23-4D66-FE3EBA9C67EA}"/>
              </a:ext>
            </a:extLst>
          </p:cNvPr>
          <p:cNvSpPr txBox="1"/>
          <p:nvPr/>
        </p:nvSpPr>
        <p:spPr>
          <a:xfrm>
            <a:off x="1362974" y="2277374"/>
            <a:ext cx="184731" cy="369332"/>
          </a:xfrm>
          <a:prstGeom prst="rect">
            <a:avLst/>
          </a:prstGeom>
          <a:noFill/>
        </p:spPr>
        <p:txBody>
          <a:bodyPr wrap="none" rtlCol="0">
            <a:spAutoFit/>
          </a:bodyPr>
          <a:lstStyle/>
          <a:p>
            <a:endParaRPr lang="en-IN" dirty="0"/>
          </a:p>
        </p:txBody>
      </p:sp>
      <p:sp>
        <p:nvSpPr>
          <p:cNvPr id="7" name="TextBox 6">
            <a:extLst>
              <a:ext uri="{FF2B5EF4-FFF2-40B4-BE49-F238E27FC236}">
                <a16:creationId xmlns:a16="http://schemas.microsoft.com/office/drawing/2014/main" id="{59DF36C8-16F7-B48B-0C6B-A70A40E17FAB}"/>
              </a:ext>
            </a:extLst>
          </p:cNvPr>
          <p:cNvSpPr txBox="1"/>
          <p:nvPr/>
        </p:nvSpPr>
        <p:spPr>
          <a:xfrm>
            <a:off x="1017917" y="1716656"/>
            <a:ext cx="8169215" cy="4054415"/>
          </a:xfrm>
          <a:prstGeom prst="rect">
            <a:avLst/>
          </a:prstGeom>
          <a:noFill/>
        </p:spPr>
        <p:txBody>
          <a:bodyPr wrap="square" rtlCol="0">
            <a:spAutoFit/>
          </a:bodyPr>
          <a:lstStyle/>
          <a:p>
            <a:r>
              <a:rPr lang="en-IN" dirty="0"/>
              <a:t>The project involves </a:t>
            </a:r>
            <a:r>
              <a:rPr lang="en-IN" b="1" dirty="0"/>
              <a:t>data cleaning, exploratory data analysis, statistical analysis, and data visualization</a:t>
            </a:r>
            <a:r>
              <a:rPr lang="en-IN" dirty="0"/>
              <a:t> to identify meaningful seasonal patterns and variations. Different agricultural factors will be compared across seasons to understand their impact on crop production, resource consumption, and economic outcomes. Relationships between variables such as environmental conditions, resource usage, and agricultural performance will also be investigated.</a:t>
            </a:r>
          </a:p>
          <a:p>
            <a:r>
              <a:rPr lang="en-IN" dirty="0"/>
              <a:t>The analysis will use suitable charts, graphs, summary statistics, and comparisons to identify trends, differences, unusual observations, and important relationships in the data. The findings will be interpreted based on evidence from the dataset and used to develop </a:t>
            </a:r>
            <a:r>
              <a:rPr lang="en-IN" b="1" dirty="0"/>
              <a:t>data-driven conclusions and recommendations for better seasonal agricultural planning and decision-making</a:t>
            </a:r>
            <a:r>
              <a:rPr lang="en-IN" dirty="0"/>
              <a:t>.</a:t>
            </a:r>
          </a:p>
          <a:p>
            <a:endParaRPr lang="en-IN" dirty="0"/>
          </a:p>
        </p:txBody>
      </p:sp>
    </p:spTree>
    <p:extLst>
      <p:ext uri="{BB962C8B-B14F-4D97-AF65-F5344CB8AC3E}">
        <p14:creationId xmlns:p14="http://schemas.microsoft.com/office/powerpoint/2010/main" val="12152444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fontScale="55000" lnSpcReduction="20000"/>
          </a:bodyPr>
          <a:lstStyle/>
          <a:p>
            <a:pPr lvl="0"/>
            <a:r>
              <a:rPr lang="en-IN" sz="3600" b="1" dirty="0"/>
              <a:t>Farmers</a:t>
            </a:r>
            <a:r>
              <a:rPr lang="en-IN" sz="3600" dirty="0"/>
              <a:t> – To understand seasonal crop performance and improve farming decisions. </a:t>
            </a:r>
          </a:p>
          <a:p>
            <a:pPr lvl="0"/>
            <a:r>
              <a:rPr lang="en-IN" sz="3600" b="1" dirty="0"/>
              <a:t>Agricultural Planners</a:t>
            </a:r>
            <a:r>
              <a:rPr lang="en-IN" sz="3600" dirty="0"/>
              <a:t> – To plan crops, resources, and activities based on seasonal trends. </a:t>
            </a:r>
          </a:p>
          <a:p>
            <a:pPr lvl="0"/>
            <a:r>
              <a:rPr lang="en-IN" sz="3600" b="1" dirty="0"/>
              <a:t>Government Agricultural Departments</a:t>
            </a:r>
            <a:r>
              <a:rPr lang="en-IN" sz="3600" dirty="0"/>
              <a:t> – To support policies and agricultural development programs. </a:t>
            </a:r>
          </a:p>
          <a:p>
            <a:pPr lvl="0"/>
            <a:r>
              <a:rPr lang="en-IN" sz="3600" b="1" dirty="0"/>
              <a:t>Agricultural Researchers</a:t>
            </a:r>
            <a:r>
              <a:rPr lang="en-IN" sz="3600" dirty="0"/>
              <a:t> – To study seasonal patterns and environmental impacts on farming. </a:t>
            </a:r>
          </a:p>
          <a:p>
            <a:pPr lvl="0"/>
            <a:r>
              <a:rPr lang="en-IN" sz="3600" b="1" dirty="0"/>
              <a:t>Agribusinesses</a:t>
            </a:r>
            <a:r>
              <a:rPr lang="en-IN" sz="3600" dirty="0"/>
              <a:t> – To understand production and economic trends for better planning. </a:t>
            </a:r>
          </a:p>
          <a:p>
            <a:pPr lvl="0"/>
            <a:r>
              <a:rPr lang="en-IN" sz="3600" b="1" dirty="0"/>
              <a:t>Agricultural Consultants</a:t>
            </a:r>
            <a:r>
              <a:rPr lang="en-IN" sz="3600" dirty="0"/>
              <a:t> – To provide data-driven recommendations to farmers and organizations. </a:t>
            </a:r>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a:lstStyle/>
          <a:p>
            <a:pPr lvl="0"/>
            <a:r>
              <a:rPr lang="en-IN" b="1" dirty="0"/>
              <a:t>Python</a:t>
            </a:r>
            <a:r>
              <a:rPr lang="en-IN" dirty="0"/>
              <a:t> – Main programming language for data analysis. </a:t>
            </a:r>
          </a:p>
          <a:p>
            <a:pPr lvl="0"/>
            <a:r>
              <a:rPr lang="en-IN" b="1" dirty="0"/>
              <a:t>Pandas</a:t>
            </a:r>
            <a:r>
              <a:rPr lang="en-IN" dirty="0"/>
              <a:t> – Data cleaning, manipulation, and analysis. </a:t>
            </a:r>
          </a:p>
          <a:p>
            <a:pPr lvl="0"/>
            <a:r>
              <a:rPr lang="en-IN" b="1" dirty="0"/>
              <a:t>NumPy</a:t>
            </a:r>
            <a:r>
              <a:rPr lang="en-IN" dirty="0"/>
              <a:t> – Numerical calculations and data processing. </a:t>
            </a:r>
          </a:p>
          <a:p>
            <a:pPr lvl="0"/>
            <a:r>
              <a:rPr lang="en-IN" b="1" dirty="0"/>
              <a:t>Matplotlib</a:t>
            </a:r>
            <a:r>
              <a:rPr lang="en-IN" dirty="0"/>
              <a:t> – Creating charts and visualizations. </a:t>
            </a:r>
          </a:p>
          <a:p>
            <a:pPr lvl="0"/>
            <a:r>
              <a:rPr lang="en-IN" b="1" dirty="0"/>
              <a:t>Seaborn</a:t>
            </a:r>
            <a:r>
              <a:rPr lang="en-IN" dirty="0"/>
              <a:t> – Statistical data visualization. </a:t>
            </a:r>
          </a:p>
          <a:p>
            <a:pPr lvl="0"/>
            <a:r>
              <a:rPr lang="en-IN" b="1" dirty="0"/>
              <a:t>Google </a:t>
            </a:r>
            <a:r>
              <a:rPr lang="en-IN" b="1" dirty="0" err="1"/>
              <a:t>colab</a:t>
            </a:r>
            <a:r>
              <a:rPr lang="en-IN" dirty="0"/>
              <a:t> – Developing and documenting the complete project. </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6165D7E9-D2AD-26CA-B680-EBE155CF7582}"/>
              </a:ext>
            </a:extLst>
          </p:cNvPr>
          <p:cNvPicPr>
            <a:picLocks noChangeAspect="1"/>
          </p:cNvPicPr>
          <p:nvPr/>
        </p:nvPicPr>
        <p:blipFill>
          <a:blip r:embed="rId3"/>
          <a:stretch>
            <a:fillRect/>
          </a:stretch>
        </p:blipFill>
        <p:spPr>
          <a:xfrm>
            <a:off x="1316554" y="1275371"/>
            <a:ext cx="6372701" cy="5019022"/>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24C1E6AD-5E83-9156-44B9-08910FB81224}"/>
              </a:ext>
            </a:extLst>
          </p:cNvPr>
          <p:cNvPicPr>
            <a:picLocks noChangeAspect="1"/>
          </p:cNvPicPr>
          <p:nvPr/>
        </p:nvPicPr>
        <p:blipFill>
          <a:blip r:embed="rId3"/>
          <a:stretch>
            <a:fillRect/>
          </a:stretch>
        </p:blipFill>
        <p:spPr>
          <a:xfrm>
            <a:off x="498062" y="1941449"/>
            <a:ext cx="4893342" cy="4187276"/>
          </a:xfrm>
          <a:prstGeom prst="rect">
            <a:avLst/>
          </a:prstGeom>
        </p:spPr>
      </p:pic>
      <p:pic>
        <p:nvPicPr>
          <p:cNvPr id="9" name="Picture 8">
            <a:extLst>
              <a:ext uri="{FF2B5EF4-FFF2-40B4-BE49-F238E27FC236}">
                <a16:creationId xmlns:a16="http://schemas.microsoft.com/office/drawing/2014/main" id="{EE0313F3-D0D7-3C6D-7735-96A1531EA831}"/>
              </a:ext>
            </a:extLst>
          </p:cNvPr>
          <p:cNvPicPr>
            <a:picLocks noChangeAspect="1"/>
          </p:cNvPicPr>
          <p:nvPr/>
        </p:nvPicPr>
        <p:blipFill>
          <a:blip r:embed="rId4"/>
          <a:stretch>
            <a:fillRect/>
          </a:stretch>
        </p:blipFill>
        <p:spPr>
          <a:xfrm>
            <a:off x="5568483" y="1941448"/>
            <a:ext cx="5466661" cy="4179035"/>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E633423A-BFD0-891C-FC0D-49C57B4EAADF}"/>
              </a:ext>
            </a:extLst>
          </p:cNvPr>
          <p:cNvPicPr>
            <a:picLocks noChangeAspect="1"/>
          </p:cNvPicPr>
          <p:nvPr/>
        </p:nvPicPr>
        <p:blipFill>
          <a:blip r:embed="rId3"/>
          <a:stretch>
            <a:fillRect/>
          </a:stretch>
        </p:blipFill>
        <p:spPr>
          <a:xfrm>
            <a:off x="675957" y="2048384"/>
            <a:ext cx="5254944" cy="4391300"/>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192F2293-4251-DD96-82EE-0E74661C800B}"/>
              </a:ext>
            </a:extLst>
          </p:cNvPr>
          <p:cNvPicPr>
            <a:picLocks noChangeAspect="1"/>
          </p:cNvPicPr>
          <p:nvPr/>
        </p:nvPicPr>
        <p:blipFill>
          <a:blip r:embed="rId3"/>
          <a:stretch>
            <a:fillRect/>
          </a:stretch>
        </p:blipFill>
        <p:spPr>
          <a:xfrm>
            <a:off x="1807688" y="1909213"/>
            <a:ext cx="6520464" cy="4578198"/>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AB69EAF9-E05B-FE22-11D5-4B4ABAF618EB}"/>
              </a:ext>
            </a:extLst>
          </p:cNvPr>
          <p:cNvPicPr>
            <a:picLocks noChangeAspect="1"/>
          </p:cNvPicPr>
          <p:nvPr/>
        </p:nvPicPr>
        <p:blipFill>
          <a:blip r:embed="rId3"/>
          <a:stretch>
            <a:fillRect/>
          </a:stretch>
        </p:blipFill>
        <p:spPr>
          <a:xfrm>
            <a:off x="1849581" y="2051078"/>
            <a:ext cx="4867285" cy="4121121"/>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E6D22853-7234-25EC-9B64-0CF8E695606C}"/>
              </a:ext>
            </a:extLst>
          </p:cNvPr>
          <p:cNvSpPr txBox="1"/>
          <p:nvPr/>
        </p:nvSpPr>
        <p:spPr>
          <a:xfrm>
            <a:off x="258838" y="2113137"/>
            <a:ext cx="11441931" cy="2308324"/>
          </a:xfrm>
          <a:prstGeom prst="rect">
            <a:avLst/>
          </a:prstGeom>
          <a:noFill/>
        </p:spPr>
        <p:txBody>
          <a:bodyPr wrap="square" rtlCol="0">
            <a:spAutoFit/>
          </a:bodyPr>
          <a:lstStyle/>
          <a:p>
            <a:pPr lvl="0"/>
            <a:r>
              <a:rPr lang="en-IN" dirty="0"/>
              <a:t>Develop </a:t>
            </a:r>
            <a:r>
              <a:rPr lang="en-IN" b="1" dirty="0"/>
              <a:t>machine learning models</a:t>
            </a:r>
            <a:r>
              <a:rPr lang="en-IN" dirty="0"/>
              <a:t> to predict crop yield based on seasonal and environmental conditions. </a:t>
            </a:r>
          </a:p>
          <a:p>
            <a:pPr lvl="0"/>
            <a:r>
              <a:rPr lang="en-IN" dirty="0"/>
              <a:t>Use </a:t>
            </a:r>
            <a:r>
              <a:rPr lang="en-IN" b="1" dirty="0"/>
              <a:t>weather forecasting data</a:t>
            </a:r>
            <a:r>
              <a:rPr lang="en-IN" dirty="0"/>
              <a:t> to provide early predictions for upcoming seasons. </a:t>
            </a:r>
          </a:p>
          <a:p>
            <a:pPr lvl="0"/>
            <a:r>
              <a:rPr lang="en-IN" dirty="0"/>
              <a:t>Build a </a:t>
            </a:r>
            <a:r>
              <a:rPr lang="en-IN" b="1" dirty="0"/>
              <a:t>real-time agricultural dashboard</a:t>
            </a:r>
            <a:r>
              <a:rPr lang="en-IN" dirty="0"/>
              <a:t> to monitor crop performance, weather, resources, and market conditions.</a:t>
            </a:r>
          </a:p>
          <a:p>
            <a:pPr lvl="0"/>
            <a:r>
              <a:rPr lang="en-IN" dirty="0"/>
              <a:t>Expand the analysis to include </a:t>
            </a:r>
            <a:r>
              <a:rPr lang="en-IN" b="1" dirty="0"/>
              <a:t>more regions, crops, and multiple years of data</a:t>
            </a:r>
            <a:r>
              <a:rPr lang="en-IN" dirty="0"/>
              <a:t>. </a:t>
            </a:r>
          </a:p>
          <a:p>
            <a:pPr lvl="0"/>
            <a:r>
              <a:rPr lang="en-IN" dirty="0"/>
              <a:t>Develop a </a:t>
            </a:r>
            <a:r>
              <a:rPr lang="en-IN" b="1" dirty="0"/>
              <a:t>crop recommendation system</a:t>
            </a:r>
            <a:r>
              <a:rPr lang="en-IN" dirty="0"/>
              <a:t> that suggests suitable crops for different seasons and regions. </a:t>
            </a:r>
          </a:p>
          <a:p>
            <a:pPr lvl="0"/>
            <a:r>
              <a:rPr lang="en-IN" dirty="0"/>
              <a:t>Predict </a:t>
            </a:r>
            <a:r>
              <a:rPr lang="en-IN" b="1" dirty="0"/>
              <a:t>water and fertilizer requirements</a:t>
            </a:r>
            <a:r>
              <a:rPr lang="en-IN" dirty="0"/>
              <a:t> to improve resource efficiency</a:t>
            </a:r>
          </a:p>
          <a:p>
            <a:endParaRPr lang="en-IN"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29256" y="1440320"/>
            <a:ext cx="7232875" cy="646331"/>
          </a:xfrm>
          <a:prstGeom prst="rect">
            <a:avLst/>
          </a:prstGeom>
          <a:noFill/>
        </p:spPr>
        <p:txBody>
          <a:bodyPr wrap="square">
            <a:spAutoFit/>
          </a:bodyPr>
          <a:lstStyle/>
          <a:p>
            <a:r>
              <a:rPr lang="en-US" dirty="0"/>
              <a:t>https://github.com/avanishsaddala/Seasonal-Agriculture-Performance-Analysis</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FECD4AEA-DA70-0444-C159-92FFDF86F1F5}"/>
              </a:ext>
            </a:extLst>
          </p:cNvPr>
          <p:cNvPicPr>
            <a:picLocks noChangeAspect="1"/>
          </p:cNvPicPr>
          <p:nvPr/>
        </p:nvPicPr>
        <p:blipFill>
          <a:blip r:embed="rId3"/>
          <a:stretch>
            <a:fillRect/>
          </a:stretch>
        </p:blipFill>
        <p:spPr>
          <a:xfrm>
            <a:off x="1589809" y="1608410"/>
            <a:ext cx="6303323" cy="4512606"/>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1445</TotalTime>
  <Words>586</Words>
  <Application>Microsoft Office PowerPoint</Application>
  <PresentationFormat>Widescreen</PresentationFormat>
  <Paragraphs>48</Paragraphs>
  <Slides>15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Trebuchet MS</vt:lpstr>
      <vt:lpstr>Wingdings</vt:lpstr>
      <vt:lpstr>Wingdings 3</vt:lpstr>
      <vt:lpstr>Facet</vt:lpstr>
      <vt:lpstr>Project Title -Seasonal Agriculture Performance Analysis</vt:lpstr>
      <vt:lpstr>PROBLEM  STATEMENT</vt:lpstr>
      <vt:lpstr>Project Description  This project focuses on analyzing agricultural data to understand how farming performance changes across different seasons, regions, environmental conditions, resource usage, and economic factors. The dataset contains information related to agricultural activities, crop production, farming practices, environmental conditions, and financial performance.</vt:lpstr>
      <vt:lpstr>Project Description</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Saddala Avanish Reddy</cp:lastModifiedBy>
  <cp:revision>99</cp:revision>
  <dcterms:created xsi:type="dcterms:W3CDTF">2021-07-11T13:13:15Z</dcterms:created>
  <dcterms:modified xsi:type="dcterms:W3CDTF">2026-09-10T11:53:09Z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